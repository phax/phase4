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2"/>
    <p:restoredTop sz="94655"/>
  </p:normalViewPr>
  <p:slideViewPr>
    <p:cSldViewPr>
      <p:cViewPr varScale="1">
        <p:scale>
          <a:sx n="154" d="100"/>
          <a:sy n="154" d="100"/>
        </p:scale>
        <p:origin x="2632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FD44E-5975-4AC9-9C1D-CD371CB5D6EF}" type="datetimeFigureOut">
              <a:rPr lang="de-AT" smtClean="0"/>
              <a:pPr/>
              <a:t>27.10.25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D36A1-2CE7-4DF4-9C82-CDF3E1A5C54F}" type="slidenum">
              <a:rPr lang="de-AT" smtClean="0"/>
              <a:pPr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Peppol AS4 </a:t>
            </a:r>
            <a:r>
              <a:rPr lang="de-AT" dirty="0" err="1"/>
              <a:t>images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1835696" y="764704"/>
            <a:ext cx="4608512" cy="56886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de-AT" dirty="0"/>
              <a:t>AS2 S/MIME Message</a:t>
            </a:r>
          </a:p>
        </p:txBody>
      </p:sp>
      <p:sp>
        <p:nvSpPr>
          <p:cNvPr id="10" name="Rechteck 9"/>
          <p:cNvSpPr/>
          <p:nvPr/>
        </p:nvSpPr>
        <p:spPr>
          <a:xfrm>
            <a:off x="2123728" y="1700808"/>
            <a:ext cx="4032448" cy="453650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MIME Body</a:t>
            </a:r>
          </a:p>
        </p:txBody>
      </p:sp>
      <p:sp>
        <p:nvSpPr>
          <p:cNvPr id="4" name="Rechteck 3"/>
          <p:cNvSpPr/>
          <p:nvPr/>
        </p:nvSpPr>
        <p:spPr>
          <a:xfrm>
            <a:off x="2411760" y="2132856"/>
            <a:ext cx="3456384" cy="32403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 AS2 S/MIME Message</a:t>
            </a:r>
          </a:p>
        </p:txBody>
      </p:sp>
      <p:sp>
        <p:nvSpPr>
          <p:cNvPr id="5" name="Rechteck 4"/>
          <p:cNvSpPr/>
          <p:nvPr/>
        </p:nvSpPr>
        <p:spPr>
          <a:xfrm>
            <a:off x="2699792" y="2564904"/>
            <a:ext cx="2880320" cy="25370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Standard Business </a:t>
            </a:r>
            <a:r>
              <a:rPr lang="de-AT" dirty="0" err="1"/>
              <a:t>Document</a:t>
            </a:r>
            <a:r>
              <a:rPr lang="de-AT" dirty="0"/>
              <a:t> Header</a:t>
            </a:r>
          </a:p>
        </p:txBody>
      </p:sp>
      <p:sp>
        <p:nvSpPr>
          <p:cNvPr id="6" name="Rechteck 5"/>
          <p:cNvSpPr/>
          <p:nvPr/>
        </p:nvSpPr>
        <p:spPr>
          <a:xfrm>
            <a:off x="3059832" y="3229744"/>
            <a:ext cx="2016224" cy="158417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UBL-</a:t>
            </a:r>
            <a:r>
              <a:rPr lang="de-AT" dirty="0" err="1"/>
              <a:t>Document</a:t>
            </a:r>
            <a:endParaRPr lang="de-AT" dirty="0"/>
          </a:p>
        </p:txBody>
      </p:sp>
      <p:sp>
        <p:nvSpPr>
          <p:cNvPr id="7" name="Textfeld 6"/>
          <p:cNvSpPr txBox="1"/>
          <p:nvPr/>
        </p:nvSpPr>
        <p:spPr>
          <a:xfrm>
            <a:off x="3203848" y="3731803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i="1" dirty="0" err="1"/>
              <a:t>Invoice</a:t>
            </a:r>
            <a:r>
              <a:rPr lang="de-AT" i="1" dirty="0"/>
              <a:t>, Order, </a:t>
            </a:r>
            <a:r>
              <a:rPr lang="de-AT" i="1" dirty="0" err="1"/>
              <a:t>DespatchAdvice</a:t>
            </a:r>
            <a:r>
              <a:rPr lang="de-AT" i="1" dirty="0"/>
              <a:t> etc.</a:t>
            </a:r>
          </a:p>
        </p:txBody>
      </p:sp>
      <p:sp>
        <p:nvSpPr>
          <p:cNvPr id="9" name="Rechteck 8"/>
          <p:cNvSpPr/>
          <p:nvPr/>
        </p:nvSpPr>
        <p:spPr>
          <a:xfrm>
            <a:off x="2127380" y="1124744"/>
            <a:ext cx="4028796" cy="36004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MIME Header</a:t>
            </a:r>
          </a:p>
        </p:txBody>
      </p:sp>
      <p:sp>
        <p:nvSpPr>
          <p:cNvPr id="11" name="Rechteck 10"/>
          <p:cNvSpPr/>
          <p:nvPr/>
        </p:nvSpPr>
        <p:spPr>
          <a:xfrm>
            <a:off x="2411760" y="5589240"/>
            <a:ext cx="3456384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de-AT" dirty="0"/>
              <a:t>S/MIME </a:t>
            </a:r>
            <a:r>
              <a:rPr lang="de-AT" dirty="0" err="1"/>
              <a:t>Signature</a:t>
            </a:r>
            <a:endParaRPr lang="de-AT" dirty="0"/>
          </a:p>
        </p:txBody>
      </p:sp>
      <p:sp>
        <p:nvSpPr>
          <p:cNvPr id="12" name="Rechteck 11"/>
          <p:cNvSpPr/>
          <p:nvPr/>
        </p:nvSpPr>
        <p:spPr>
          <a:xfrm>
            <a:off x="2411760" y="2132856"/>
            <a:ext cx="720080" cy="2014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body part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401821" y="5584642"/>
            <a:ext cx="720080" cy="2014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body part</a:t>
            </a:r>
          </a:p>
        </p:txBody>
      </p:sp>
    </p:spTree>
    <p:extLst>
      <p:ext uri="{BB962C8B-B14F-4D97-AF65-F5344CB8AC3E}">
        <p14:creationId xmlns:p14="http://schemas.microsoft.com/office/powerpoint/2010/main" val="422957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2627784" y="1700808"/>
            <a:ext cx="3528392" cy="3384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SOAP Envelope</a:t>
            </a:r>
          </a:p>
        </p:txBody>
      </p:sp>
      <p:sp>
        <p:nvSpPr>
          <p:cNvPr id="5" name="Rechteck 4"/>
          <p:cNvSpPr/>
          <p:nvPr/>
        </p:nvSpPr>
        <p:spPr>
          <a:xfrm>
            <a:off x="2915816" y="2204864"/>
            <a:ext cx="3024336" cy="122413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SOAP Header</a:t>
            </a:r>
          </a:p>
        </p:txBody>
      </p:sp>
      <p:sp>
        <p:nvSpPr>
          <p:cNvPr id="6" name="Rechteck 5"/>
          <p:cNvSpPr/>
          <p:nvPr/>
        </p:nvSpPr>
        <p:spPr>
          <a:xfrm>
            <a:off x="2915816" y="3717032"/>
            <a:ext cx="3024336" cy="11521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SOAP Body</a:t>
            </a:r>
          </a:p>
        </p:txBody>
      </p:sp>
      <p:sp>
        <p:nvSpPr>
          <p:cNvPr id="7" name="Rechteck 6"/>
          <p:cNvSpPr/>
          <p:nvPr/>
        </p:nvSpPr>
        <p:spPr>
          <a:xfrm>
            <a:off x="3203848" y="4149080"/>
            <a:ext cx="2448272" cy="43204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SBDH/UBL Document</a:t>
            </a:r>
          </a:p>
        </p:txBody>
      </p:sp>
      <p:sp>
        <p:nvSpPr>
          <p:cNvPr id="8" name="Rechteck 7"/>
          <p:cNvSpPr/>
          <p:nvPr/>
        </p:nvSpPr>
        <p:spPr>
          <a:xfrm>
            <a:off x="3203848" y="2636912"/>
            <a:ext cx="2448272" cy="5040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AS4 User 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683568" y="548680"/>
            <a:ext cx="5040560" cy="5976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MIME Message/SOAP with Attachments</a:t>
            </a:r>
          </a:p>
        </p:txBody>
      </p:sp>
      <p:sp>
        <p:nvSpPr>
          <p:cNvPr id="11" name="Rechteck 10"/>
          <p:cNvSpPr/>
          <p:nvPr/>
        </p:nvSpPr>
        <p:spPr>
          <a:xfrm>
            <a:off x="1035224" y="1044352"/>
            <a:ext cx="4328864" cy="4404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MIME Header</a:t>
            </a:r>
          </a:p>
        </p:txBody>
      </p:sp>
      <p:sp>
        <p:nvSpPr>
          <p:cNvPr id="12" name="Rechteck 11"/>
          <p:cNvSpPr/>
          <p:nvPr/>
        </p:nvSpPr>
        <p:spPr>
          <a:xfrm>
            <a:off x="1043608" y="1700808"/>
            <a:ext cx="4328864" cy="453650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MIME Body</a:t>
            </a:r>
          </a:p>
        </p:txBody>
      </p:sp>
      <p:sp>
        <p:nvSpPr>
          <p:cNvPr id="4" name="Rechteck 3"/>
          <p:cNvSpPr/>
          <p:nvPr/>
        </p:nvSpPr>
        <p:spPr>
          <a:xfrm>
            <a:off x="1475656" y="2060848"/>
            <a:ext cx="3528392" cy="25202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SOAP Envelope</a:t>
            </a:r>
          </a:p>
        </p:txBody>
      </p:sp>
      <p:sp>
        <p:nvSpPr>
          <p:cNvPr id="5" name="Rechteck 4"/>
          <p:cNvSpPr/>
          <p:nvPr/>
        </p:nvSpPr>
        <p:spPr>
          <a:xfrm>
            <a:off x="1763688" y="2420888"/>
            <a:ext cx="3024336" cy="12961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SOAP Header</a:t>
            </a:r>
          </a:p>
        </p:txBody>
      </p:sp>
      <p:sp>
        <p:nvSpPr>
          <p:cNvPr id="6" name="Rechteck 5"/>
          <p:cNvSpPr/>
          <p:nvPr/>
        </p:nvSpPr>
        <p:spPr>
          <a:xfrm>
            <a:off x="1763688" y="3861048"/>
            <a:ext cx="3024336" cy="576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SOAP Body</a:t>
            </a:r>
          </a:p>
          <a:p>
            <a:pPr algn="ctr"/>
            <a:r>
              <a:rPr lang="en-GB" sz="1400" i="1" dirty="0"/>
              <a:t>may be empty </a:t>
            </a:r>
            <a:r>
              <a:rPr lang="en-GB" sz="1400" i="1"/>
              <a:t>or contain SBDH/UBL</a:t>
            </a:r>
            <a:endParaRPr lang="en-GB" sz="1400" i="1" dirty="0"/>
          </a:p>
        </p:txBody>
      </p:sp>
      <p:sp>
        <p:nvSpPr>
          <p:cNvPr id="8" name="Rechteck 7"/>
          <p:cNvSpPr/>
          <p:nvPr/>
        </p:nvSpPr>
        <p:spPr>
          <a:xfrm>
            <a:off x="2051720" y="2780928"/>
            <a:ext cx="2448272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AS4 User Message</a:t>
            </a:r>
          </a:p>
        </p:txBody>
      </p:sp>
      <p:sp>
        <p:nvSpPr>
          <p:cNvPr id="13" name="Rechteck 12"/>
          <p:cNvSpPr/>
          <p:nvPr/>
        </p:nvSpPr>
        <p:spPr>
          <a:xfrm>
            <a:off x="1475656" y="4725144"/>
            <a:ext cx="3528392" cy="6480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SBDH/UBL document</a:t>
            </a:r>
            <a:br>
              <a:rPr lang="en-GB" dirty="0"/>
            </a:br>
            <a:r>
              <a:rPr lang="en-GB" sz="1600" i="1" dirty="0"/>
              <a:t>(if not in SOAP Body)</a:t>
            </a:r>
          </a:p>
        </p:txBody>
      </p:sp>
      <p:sp>
        <p:nvSpPr>
          <p:cNvPr id="14" name="Rechteck 13"/>
          <p:cNvSpPr/>
          <p:nvPr/>
        </p:nvSpPr>
        <p:spPr>
          <a:xfrm>
            <a:off x="1475656" y="5517232"/>
            <a:ext cx="3528392" cy="4320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Attachment </a:t>
            </a:r>
            <a:r>
              <a:rPr lang="en-GB" i="1" dirty="0"/>
              <a:t>0..n</a:t>
            </a:r>
          </a:p>
        </p:txBody>
      </p:sp>
      <p:sp>
        <p:nvSpPr>
          <p:cNvPr id="15" name="Rechteck 14"/>
          <p:cNvSpPr/>
          <p:nvPr/>
        </p:nvSpPr>
        <p:spPr>
          <a:xfrm>
            <a:off x="2051720" y="3212976"/>
            <a:ext cx="2448272" cy="36004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GB" dirty="0"/>
              <a:t>WS-Security Header</a:t>
            </a:r>
          </a:p>
        </p:txBody>
      </p:sp>
      <p:sp>
        <p:nvSpPr>
          <p:cNvPr id="16" name="Rechteck 15"/>
          <p:cNvSpPr/>
          <p:nvPr/>
        </p:nvSpPr>
        <p:spPr>
          <a:xfrm>
            <a:off x="1475656" y="4725144"/>
            <a:ext cx="720080" cy="2014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body part</a:t>
            </a:r>
          </a:p>
        </p:txBody>
      </p:sp>
      <p:sp>
        <p:nvSpPr>
          <p:cNvPr id="17" name="Rechteck 16"/>
          <p:cNvSpPr/>
          <p:nvPr/>
        </p:nvSpPr>
        <p:spPr>
          <a:xfrm>
            <a:off x="1488029" y="5517232"/>
            <a:ext cx="720080" cy="2014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body part</a:t>
            </a:r>
          </a:p>
        </p:txBody>
      </p:sp>
      <p:sp>
        <p:nvSpPr>
          <p:cNvPr id="18" name="Rechteck 17"/>
          <p:cNvSpPr/>
          <p:nvPr/>
        </p:nvSpPr>
        <p:spPr>
          <a:xfrm>
            <a:off x="1475656" y="2060848"/>
            <a:ext cx="720080" cy="20141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GB" sz="1200" dirty="0">
                <a:solidFill>
                  <a:schemeClr val="dk1"/>
                </a:solidFill>
              </a:rPr>
              <a:t>body part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3C4ABB8-F50C-CE58-F48A-B1E6590557BD}"/>
              </a:ext>
            </a:extLst>
          </p:cNvPr>
          <p:cNvSpPr/>
          <p:nvPr/>
        </p:nvSpPr>
        <p:spPr>
          <a:xfrm>
            <a:off x="395534" y="404664"/>
            <a:ext cx="4032450" cy="5328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phase4-peppol-standalone (Spring Boot)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6285B66-CC4E-AD88-FF8C-4904FC9C435C}"/>
              </a:ext>
            </a:extLst>
          </p:cNvPr>
          <p:cNvSpPr/>
          <p:nvPr/>
        </p:nvSpPr>
        <p:spPr>
          <a:xfrm>
            <a:off x="611559" y="836712"/>
            <a:ext cx="3528393" cy="14401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phase4 (production ready, general purpose AS4 library)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CD6F4D2-FA25-014B-B4CA-8DA8D44A80D0}"/>
              </a:ext>
            </a:extLst>
          </p:cNvPr>
          <p:cNvSpPr/>
          <p:nvPr/>
        </p:nvSpPr>
        <p:spPr>
          <a:xfrm>
            <a:off x="611559" y="2492896"/>
            <a:ext cx="3528393" cy="936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Adds: Peppol specific AS4 P-Mode, SBDH support, Peppol Reporting support, Peppol PKI support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0A823DE-A6A6-94D9-3A22-F320E0700F0B}"/>
              </a:ext>
            </a:extLst>
          </p:cNvPr>
          <p:cNvSpPr/>
          <p:nvPr/>
        </p:nvSpPr>
        <p:spPr>
          <a:xfrm>
            <a:off x="642324" y="3645024"/>
            <a:ext cx="3528393" cy="1872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 Issues: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Configure document sending (predefined API)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Configure document receiving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Configure Peppol Reporting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5C6B94D-A249-3845-8D5B-989CB2398841}"/>
              </a:ext>
            </a:extLst>
          </p:cNvPr>
          <p:cNvSpPr/>
          <p:nvPr/>
        </p:nvSpPr>
        <p:spPr>
          <a:xfrm>
            <a:off x="4860031" y="404664"/>
            <a:ext cx="4032450" cy="5328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phase4-peppol-server-webapp (WAR)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38F303C-0775-976D-60B8-C4D71B67EE0D}"/>
              </a:ext>
            </a:extLst>
          </p:cNvPr>
          <p:cNvSpPr/>
          <p:nvPr/>
        </p:nvSpPr>
        <p:spPr>
          <a:xfrm>
            <a:off x="5076055" y="836712"/>
            <a:ext cx="3528393" cy="144016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phase4 (production ready, general purpose AS4 library)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F7A9D5E-2B8C-5571-BAE4-A87353BFC48F}"/>
              </a:ext>
            </a:extLst>
          </p:cNvPr>
          <p:cNvSpPr/>
          <p:nvPr/>
        </p:nvSpPr>
        <p:spPr>
          <a:xfrm>
            <a:off x="5076055" y="2492896"/>
            <a:ext cx="3528393" cy="936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dirty="0"/>
              <a:t>Adds: Peppol specific AS4 P-Mode, SBDH support, Peppol Reporting support, Peppol PKI support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8CBA7D0-CB7C-0A65-3CA7-D7AEF917570E}"/>
              </a:ext>
            </a:extLst>
          </p:cNvPr>
          <p:cNvSpPr/>
          <p:nvPr/>
        </p:nvSpPr>
        <p:spPr>
          <a:xfrm>
            <a:off x="5106820" y="3645024"/>
            <a:ext cx="3528393" cy="1872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 Issues: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Configure document sending (predefined API)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Configure document receiving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Configure Peppol Reporting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346ED97-2674-793D-51FF-FD7B04286B82}"/>
              </a:ext>
            </a:extLst>
          </p:cNvPr>
          <p:cNvSpPr txBox="1"/>
          <p:nvPr/>
        </p:nvSpPr>
        <p:spPr>
          <a:xfrm>
            <a:off x="2267744" y="5949280"/>
            <a:ext cx="4105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They have de facto the same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879078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Exchange - push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635896" y="3068960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1" name="Gerade Verbindung mit Pfeil 10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563888" y="3501008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cxnSp>
        <p:nvCxnSpPr>
          <p:cNvPr id="13" name="Gerade Verbindung 12"/>
          <p:cNvCxnSpPr/>
          <p:nvPr/>
        </p:nvCxnSpPr>
        <p:spPr>
          <a:xfrm>
            <a:off x="2699792" y="2996952"/>
            <a:ext cx="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763689" y="331148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085" y="331148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Exchange - pull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639967" y="3068960"/>
            <a:ext cx="134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Pull Request</a:t>
            </a:r>
          </a:p>
        </p:txBody>
      </p:sp>
      <p:cxnSp>
        <p:nvCxnSpPr>
          <p:cNvPr id="11" name="Gerade Verbindung mit Pfeil 10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563888" y="3501008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3" name="Gerade Verbindung 12"/>
          <p:cNvCxnSpPr/>
          <p:nvPr/>
        </p:nvCxnSpPr>
        <p:spPr>
          <a:xfrm>
            <a:off x="2699792" y="2996952"/>
            <a:ext cx="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5"/>
          <p:cNvCxnSpPr/>
          <p:nvPr/>
        </p:nvCxnSpPr>
        <p:spPr>
          <a:xfrm>
            <a:off x="2699792" y="4302387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6"/>
          <p:cNvSpPr txBox="1"/>
          <p:nvPr/>
        </p:nvSpPr>
        <p:spPr>
          <a:xfrm>
            <a:off x="3563888" y="3976373"/>
            <a:ext cx="161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prstClr val="black"/>
                </a:solidFill>
              </a:rPr>
              <a:t>Signal Message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635205" y="357301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  <a:endParaRPr lang="en-US" i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36085" y="357301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Exchange - sync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608175" y="3068960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1" name="Gerade Verbindung mit Pfeil 10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147440" y="3501008"/>
            <a:ext cx="2417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Receipt + User Message</a:t>
            </a:r>
          </a:p>
        </p:txBody>
      </p:sp>
      <p:cxnSp>
        <p:nvCxnSpPr>
          <p:cNvPr id="13" name="Gerade Verbindung 12"/>
          <p:cNvCxnSpPr/>
          <p:nvPr/>
        </p:nvCxnSpPr>
        <p:spPr>
          <a:xfrm>
            <a:off x="2699792" y="2996952"/>
            <a:ext cx="0" cy="136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782681" y="3131676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6085" y="313167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5205" y="357301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6084" y="357301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Exchange – push-push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624000" y="3068960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1" name="Gerade Verbindung mit Pfeil 10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563888" y="3501008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cxnSp>
        <p:nvCxnSpPr>
          <p:cNvPr id="13" name="Gerade Verbindung 12"/>
          <p:cNvCxnSpPr/>
          <p:nvPr/>
        </p:nvCxnSpPr>
        <p:spPr>
          <a:xfrm>
            <a:off x="2699792" y="2996952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>
            <a:off x="2699792" y="4499828"/>
            <a:ext cx="3312368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624000" y="4211796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23" name="Gerade Verbindung mit Pfeil 22"/>
          <p:cNvCxnSpPr/>
          <p:nvPr/>
        </p:nvCxnSpPr>
        <p:spPr>
          <a:xfrm flipH="1">
            <a:off x="2699792" y="4931876"/>
            <a:ext cx="3312368" cy="0"/>
          </a:xfrm>
          <a:prstGeom prst="straightConnector1">
            <a:avLst/>
          </a:prstGeom>
          <a:ln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3563888" y="4643844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1782681" y="3337549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6085" y="333754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35206" y="453118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6085" y="453118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Message Exchange – push-pull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288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/>
          <p:cNvSpPr txBox="1"/>
          <p:nvPr/>
        </p:nvSpPr>
        <p:spPr>
          <a:xfrm>
            <a:off x="3624000" y="3068960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1" name="Gerade Verbindung mit Pfeil 10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3563888" y="3501008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cxnSp>
        <p:nvCxnSpPr>
          <p:cNvPr id="13" name="Gerade Verbindung 12"/>
          <p:cNvCxnSpPr/>
          <p:nvPr/>
        </p:nvCxnSpPr>
        <p:spPr>
          <a:xfrm>
            <a:off x="2699792" y="2996952"/>
            <a:ext cx="0" cy="280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 flipH="1">
            <a:off x="2699792" y="4499828"/>
            <a:ext cx="3312368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3700079" y="4211796"/>
            <a:ext cx="134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Pull Request</a:t>
            </a:r>
          </a:p>
        </p:txBody>
      </p:sp>
      <p:cxnSp>
        <p:nvCxnSpPr>
          <p:cNvPr id="23" name="Gerade Verbindung mit Pfeil 22"/>
          <p:cNvCxnSpPr/>
          <p:nvPr/>
        </p:nvCxnSpPr>
        <p:spPr>
          <a:xfrm>
            <a:off x="2699792" y="4931876"/>
            <a:ext cx="3312368" cy="0"/>
          </a:xfrm>
          <a:prstGeom prst="straightConnector1">
            <a:avLst/>
          </a:prstGeom>
          <a:ln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/>
          <p:cNvSpPr txBox="1"/>
          <p:nvPr/>
        </p:nvSpPr>
        <p:spPr>
          <a:xfrm>
            <a:off x="3624000" y="4643844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9" name="Gerade Verbindung mit Pfeil 5"/>
          <p:cNvCxnSpPr/>
          <p:nvPr/>
        </p:nvCxnSpPr>
        <p:spPr>
          <a:xfrm>
            <a:off x="2699792" y="5338847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6"/>
          <p:cNvSpPr txBox="1"/>
          <p:nvPr/>
        </p:nvSpPr>
        <p:spPr>
          <a:xfrm>
            <a:off x="3624000" y="5050815"/>
            <a:ext cx="161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782681" y="336878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6085" y="3368780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5205" y="482549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6084" y="482549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Message Exchange – pull-push</a:t>
            </a:r>
            <a:br>
              <a:rPr lang="en-GB" dirty="0"/>
            </a:br>
            <a:r>
              <a:rPr lang="en-GB" sz="2700" dirty="0"/>
              <a:t>with bundling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/>
          <p:cNvCxnSpPr/>
          <p:nvPr/>
        </p:nvCxnSpPr>
        <p:spPr>
          <a:xfrm>
            <a:off x="2699792" y="2996952"/>
            <a:ext cx="0" cy="2160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3700079" y="3068960"/>
            <a:ext cx="134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Pull Request</a:t>
            </a:r>
          </a:p>
        </p:txBody>
      </p:sp>
      <p:cxnSp>
        <p:nvCxnSpPr>
          <p:cNvPr id="17" name="Gerade Verbindung mit Pfeil 16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3624000" y="3501008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9" name="Gerade Verbindung mit Pfeil 18"/>
          <p:cNvCxnSpPr/>
          <p:nvPr/>
        </p:nvCxnSpPr>
        <p:spPr>
          <a:xfrm flipH="1">
            <a:off x="2699792" y="4499828"/>
            <a:ext cx="3312368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3236842" y="4186546"/>
            <a:ext cx="2269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 </a:t>
            </a:r>
            <a:r>
              <a:rPr lang="en-GB">
                <a:solidFill>
                  <a:prstClr val="black"/>
                </a:solidFill>
              </a:rPr>
              <a:t>+ Signal</a:t>
            </a:r>
            <a:endParaRPr lang="en-GB" dirty="0">
              <a:solidFill>
                <a:prstClr val="black"/>
              </a:solidFill>
            </a:endParaRPr>
          </a:p>
        </p:txBody>
      </p:sp>
      <p:cxnSp>
        <p:nvCxnSpPr>
          <p:cNvPr id="25" name="Gerade Verbindung mit Pfeil 24"/>
          <p:cNvCxnSpPr/>
          <p:nvPr/>
        </p:nvCxnSpPr>
        <p:spPr>
          <a:xfrm>
            <a:off x="2699792" y="4931876"/>
            <a:ext cx="3312368" cy="0"/>
          </a:xfrm>
          <a:prstGeom prst="straightConnector1">
            <a:avLst/>
          </a:prstGeom>
          <a:ln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3563888" y="4643844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782681" y="4499828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6085" y="449982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5205" y="3377052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6084" y="337705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Message Exchange – pull-push</a:t>
            </a:r>
            <a:br>
              <a:rPr lang="en-GB" dirty="0"/>
            </a:br>
            <a:r>
              <a:rPr lang="en-GB" sz="2700" dirty="0"/>
              <a:t>without bundling</a:t>
            </a:r>
          </a:p>
        </p:txBody>
      </p:sp>
      <p:sp>
        <p:nvSpPr>
          <p:cNvPr id="3" name="Rechteck 2"/>
          <p:cNvSpPr/>
          <p:nvPr/>
        </p:nvSpPr>
        <p:spPr>
          <a:xfrm>
            <a:off x="2051720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C2</a:t>
            </a:r>
          </a:p>
        </p:txBody>
      </p:sp>
      <p:sp>
        <p:nvSpPr>
          <p:cNvPr id="4" name="Rechteck 3"/>
          <p:cNvSpPr/>
          <p:nvPr/>
        </p:nvSpPr>
        <p:spPr>
          <a:xfrm>
            <a:off x="5364088" y="2492896"/>
            <a:ext cx="129614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prstClr val="white"/>
                </a:solidFill>
              </a:rPr>
              <a:t>C3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6012160" y="2996952"/>
            <a:ext cx="0" cy="2520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/>
          <p:cNvCxnSpPr/>
          <p:nvPr/>
        </p:nvCxnSpPr>
        <p:spPr>
          <a:xfrm>
            <a:off x="2699792" y="2996952"/>
            <a:ext cx="0" cy="2520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/>
          <p:cNvCxnSpPr/>
          <p:nvPr/>
        </p:nvCxnSpPr>
        <p:spPr>
          <a:xfrm>
            <a:off x="2699792" y="3356992"/>
            <a:ext cx="33123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3700079" y="3068960"/>
            <a:ext cx="134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Pull Request</a:t>
            </a:r>
          </a:p>
        </p:txBody>
      </p:sp>
      <p:cxnSp>
        <p:nvCxnSpPr>
          <p:cNvPr id="17" name="Gerade Verbindung mit Pfeil 16"/>
          <p:cNvCxnSpPr/>
          <p:nvPr/>
        </p:nvCxnSpPr>
        <p:spPr>
          <a:xfrm flipH="1">
            <a:off x="2699792" y="3789040"/>
            <a:ext cx="3312368" cy="0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/>
          <p:cNvSpPr txBox="1"/>
          <p:nvPr/>
        </p:nvSpPr>
        <p:spPr>
          <a:xfrm>
            <a:off x="3624000" y="3501008"/>
            <a:ext cx="1495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User Message</a:t>
            </a:r>
          </a:p>
        </p:txBody>
      </p:sp>
      <p:cxnSp>
        <p:nvCxnSpPr>
          <p:cNvPr id="19" name="Gerade Verbindung mit Pfeil 18"/>
          <p:cNvCxnSpPr/>
          <p:nvPr/>
        </p:nvCxnSpPr>
        <p:spPr>
          <a:xfrm flipH="1">
            <a:off x="2699792" y="4864299"/>
            <a:ext cx="3312368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/>
          <p:cNvSpPr txBox="1"/>
          <p:nvPr/>
        </p:nvSpPr>
        <p:spPr>
          <a:xfrm>
            <a:off x="3617156" y="4557684"/>
            <a:ext cx="149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solidFill>
                  <a:prstClr val="black"/>
                </a:solidFill>
              </a:rPr>
              <a:t>User Message</a:t>
            </a:r>
            <a:endParaRPr lang="en-GB" dirty="0">
              <a:solidFill>
                <a:prstClr val="black"/>
              </a:solidFill>
            </a:endParaRPr>
          </a:p>
        </p:txBody>
      </p:sp>
      <p:cxnSp>
        <p:nvCxnSpPr>
          <p:cNvPr id="25" name="Gerade Verbindung mit Pfeil 24"/>
          <p:cNvCxnSpPr/>
          <p:nvPr/>
        </p:nvCxnSpPr>
        <p:spPr>
          <a:xfrm>
            <a:off x="2699792" y="5296347"/>
            <a:ext cx="3312368" cy="0"/>
          </a:xfrm>
          <a:prstGeom prst="straightConnector1">
            <a:avLst/>
          </a:prstGeom>
          <a:ln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feld 25"/>
          <p:cNvSpPr txBox="1"/>
          <p:nvPr/>
        </p:nvSpPr>
        <p:spPr>
          <a:xfrm>
            <a:off x="3563888" y="5008315"/>
            <a:ext cx="161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cxnSp>
        <p:nvCxnSpPr>
          <p:cNvPr id="21" name="Gerade Verbindung mit Pfeil 18"/>
          <p:cNvCxnSpPr/>
          <p:nvPr/>
        </p:nvCxnSpPr>
        <p:spPr>
          <a:xfrm flipH="1">
            <a:off x="2690779" y="4208312"/>
            <a:ext cx="3312368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19"/>
          <p:cNvSpPr txBox="1"/>
          <p:nvPr/>
        </p:nvSpPr>
        <p:spPr>
          <a:xfrm>
            <a:off x="3608143" y="3901697"/>
            <a:ext cx="161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</a:rPr>
              <a:t>Signal 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584" y="2051556"/>
            <a:ext cx="956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7667" y="2051556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Responder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782681" y="4874966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6085" y="4874966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5206" y="3560241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Receiver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6085" y="3560241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Sender</a:t>
            </a:r>
          </a:p>
        </p:txBody>
      </p:sp>
    </p:spTree>
    <p:extLst>
      <p:ext uri="{BB962C8B-B14F-4D97-AF65-F5344CB8AC3E}">
        <p14:creationId xmlns:p14="http://schemas.microsoft.com/office/powerpoint/2010/main" val="85875833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Macintosh PowerPoint</Application>
  <PresentationFormat>Bildschirmpräsentation (4:3)</PresentationFormat>
  <Paragraphs>129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Larissa-Design</vt:lpstr>
      <vt:lpstr>Peppol AS4 images</vt:lpstr>
      <vt:lpstr>PowerPoint-Präsentation</vt:lpstr>
      <vt:lpstr>PowerPoint-Präsentation</vt:lpstr>
      <vt:lpstr>PowerPoint-Präsentation</vt:lpstr>
      <vt:lpstr>PowerPoint-Präsentation</vt:lpstr>
      <vt:lpstr>Message Exchange - push</vt:lpstr>
      <vt:lpstr>Message Exchange - pull</vt:lpstr>
      <vt:lpstr>Message Exchange - sync</vt:lpstr>
      <vt:lpstr>Message Exchange – push-push</vt:lpstr>
      <vt:lpstr>Message Exchange – push-pull</vt:lpstr>
      <vt:lpstr>Message Exchange – pull-push with bundling</vt:lpstr>
      <vt:lpstr>Message Exchange – pull-push without bundling</vt:lpstr>
    </vt:vector>
  </TitlesOfParts>
  <Manager/>
  <Company>home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PEPPOL AS4 images</dc:title>
  <dc:subject/>
  <dc:creator>philip</dc:creator>
  <cp:keywords/>
  <dc:description/>
  <cp:lastModifiedBy>Helger, Philip (ext.)</cp:lastModifiedBy>
  <cp:revision>25</cp:revision>
  <dcterms:created xsi:type="dcterms:W3CDTF">2017-03-20T17:48:27Z</dcterms:created>
  <dcterms:modified xsi:type="dcterms:W3CDTF">2025-10-27T15:10:13Z</dcterms:modified>
  <cp:category/>
</cp:coreProperties>
</file>